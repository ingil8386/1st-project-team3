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8" r:id="rId3"/>
    <p:sldId id="270" r:id="rId4"/>
    <p:sldId id="260" r:id="rId5"/>
    <p:sldId id="269" r:id="rId6"/>
    <p:sldId id="262" r:id="rId7"/>
    <p:sldId id="267" r:id="rId8"/>
    <p:sldId id="264" r:id="rId9"/>
    <p:sldId id="268" r:id="rId10"/>
    <p:sldId id="266" r:id="rId11"/>
  </p:sldIdLst>
  <p:sldSz cx="12192000" cy="6858000"/>
  <p:notesSz cx="6858000" cy="9144000"/>
  <p:embeddedFontLst>
    <p:embeddedFont>
      <p:font typeface="Noto Sans KR" panose="020B0200000000000000" pitchFamily="50" charset="-127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3682A"/>
    <a:srgbClr val="A58213"/>
    <a:srgbClr val="F8EBC3"/>
    <a:srgbClr val="FFFEFE"/>
    <a:srgbClr val="D3D9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72B7E8F-DFDC-44AC-839A-3C90CA127E16}">
  <a:tblStyle styleId="{372B7E8F-DFDC-44AC-839A-3C90CA127E1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108" y="3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>
          <a:extLst>
            <a:ext uri="{FF2B5EF4-FFF2-40B4-BE49-F238E27FC236}">
              <a16:creationId xmlns:a16="http://schemas.microsoft.com/office/drawing/2014/main" id="{40202FAD-2961-517B-64A3-A5D46D330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>
            <a:extLst>
              <a:ext uri="{FF2B5EF4-FFF2-40B4-BE49-F238E27FC236}">
                <a16:creationId xmlns:a16="http://schemas.microsoft.com/office/drawing/2014/main" id="{1D68AA88-15D1-9C04-309C-AA4E58D201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4:notes">
            <a:extLst>
              <a:ext uri="{FF2B5EF4-FFF2-40B4-BE49-F238E27FC236}">
                <a16:creationId xmlns:a16="http://schemas.microsoft.com/office/drawing/2014/main" id="{92E1245E-4EAE-B854-BEC3-0A998BD45F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5447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9BF1441B-05D4-4E61-9542-63B8D8BAB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:notes">
            <a:extLst>
              <a:ext uri="{FF2B5EF4-FFF2-40B4-BE49-F238E27FC236}">
                <a16:creationId xmlns:a16="http://schemas.microsoft.com/office/drawing/2014/main" id="{6479BEA5-4973-F503-CDF7-5926C3B5E9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:notes">
            <a:extLst>
              <a:ext uri="{FF2B5EF4-FFF2-40B4-BE49-F238E27FC236}">
                <a16:creationId xmlns:a16="http://schemas.microsoft.com/office/drawing/2014/main" id="{8C9A1F51-F6C9-430C-6E37-B2325226E6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931917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>
          <a:extLst>
            <a:ext uri="{FF2B5EF4-FFF2-40B4-BE49-F238E27FC236}">
              <a16:creationId xmlns:a16="http://schemas.microsoft.com/office/drawing/2014/main" id="{78FD6039-3221-8FB3-A577-6AE34F44FA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>
            <a:extLst>
              <a:ext uri="{FF2B5EF4-FFF2-40B4-BE49-F238E27FC236}">
                <a16:creationId xmlns:a16="http://schemas.microsoft.com/office/drawing/2014/main" id="{DB97A1F8-8993-3AD8-7E51-A16ADB72BC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>
            <a:extLst>
              <a:ext uri="{FF2B5EF4-FFF2-40B4-BE49-F238E27FC236}">
                <a16:creationId xmlns:a16="http://schemas.microsoft.com/office/drawing/2014/main" id="{5D2EB9AC-AB43-7DDC-DAED-84E61AAFB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790731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6CBDC5EF-7C11-2380-8EB1-D4D2A1FF9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>
            <a:extLst>
              <a:ext uri="{FF2B5EF4-FFF2-40B4-BE49-F238E27FC236}">
                <a16:creationId xmlns:a16="http://schemas.microsoft.com/office/drawing/2014/main" id="{BB089F24-67DB-8C24-A6F3-F962490E9F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>
            <a:extLst>
              <a:ext uri="{FF2B5EF4-FFF2-40B4-BE49-F238E27FC236}">
                <a16:creationId xmlns:a16="http://schemas.microsoft.com/office/drawing/2014/main" id="{0FBBC11C-3770-ABC5-0A1E-216A0A1D02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94438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E9E12F8-19E3-4014-D095-6A9BB3313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85" name="Google Shape;85;p13"/>
          <p:cNvSpPr txBox="1"/>
          <p:nvPr/>
        </p:nvSpPr>
        <p:spPr>
          <a:xfrm>
            <a:off x="295275" y="2051744"/>
            <a:ext cx="1160145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A58213"/>
                </a:solidFill>
                <a:latin typeface="+mj-ea"/>
                <a:ea typeface="+mj-ea"/>
                <a:cs typeface="Montserrat"/>
                <a:sym typeface="Montserrat"/>
              </a:rPr>
              <a:t>웹 </a:t>
            </a:r>
            <a:r>
              <a:rPr lang="en-US" sz="4800" b="1" i="0" u="none" strike="noStrike" cap="none" dirty="0" err="1">
                <a:solidFill>
                  <a:srgbClr val="A58213"/>
                </a:solidFill>
                <a:latin typeface="+mj-ea"/>
                <a:ea typeface="+mj-ea"/>
                <a:cs typeface="Montserrat"/>
                <a:sym typeface="Montserrat"/>
              </a:rPr>
              <a:t>프로젝트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+mj-ea"/>
                <a:ea typeface="+mj-ea"/>
                <a:cs typeface="Calibri"/>
                <a:sym typeface="Calibri"/>
              </a:rPr>
            </a:br>
            <a:r>
              <a:rPr lang="en-US" sz="48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발표</a:t>
            </a:r>
            <a:r>
              <a:rPr lang="en-US" sz="48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48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보고서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730965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JSP, JavaScript, 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Noto Sans KR"/>
                <a:sym typeface="Noto Sans KR"/>
              </a:rPr>
              <a:t>MySQL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기반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웹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애플리케이션</a:t>
            </a:r>
            <a:r>
              <a:rPr lang="en-US" sz="1800" b="0" i="0" u="none" strike="noStrike" cap="none" dirty="0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800" b="0" i="0" u="none" strike="noStrike" cap="none" dirty="0" err="1">
                <a:solidFill>
                  <a:schemeClr val="tx1"/>
                </a:solidFill>
                <a:latin typeface="Noto Sans KR"/>
                <a:ea typeface="Noto Sans KR"/>
                <a:cs typeface="Noto Sans KR"/>
                <a:sym typeface="Noto Sans KR"/>
              </a:rPr>
              <a:t>개발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520356"/>
            <a:ext cx="11049000" cy="253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chemeClr val="tx1"/>
                </a:solidFill>
                <a:latin typeface="+mn-ea"/>
                <a:ea typeface="+mn-ea"/>
                <a:cs typeface="Noto Sans KR"/>
                <a:sym typeface="Noto Sans KR"/>
              </a:rPr>
              <a:t>2026. 06. 12  3팀</a:t>
            </a:r>
            <a:endParaRPr dirty="0">
              <a:solidFill>
                <a:schemeClr val="tx1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/>
          <p:nvPr/>
        </p:nvSpPr>
        <p:spPr>
          <a:xfrm>
            <a:off x="571500" y="1654319"/>
            <a:ext cx="5600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프로젝트</a:t>
            </a:r>
            <a:r>
              <a:rPr lang="en-US" sz="2100" b="1" i="0" u="none" strike="noStrike" cap="none" dirty="0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 </a:t>
            </a:r>
            <a:r>
              <a:rPr lang="en-US" sz="2100" b="1" i="0" u="none" strike="noStrike" cap="none" dirty="0" err="1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목적</a:t>
            </a:r>
            <a:endParaRPr dirty="0">
              <a:solidFill>
                <a:srgbClr val="A58213"/>
              </a:solidFill>
              <a:latin typeface="+mn-ea"/>
              <a:ea typeface="+mn-ea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6711371" y="1654319"/>
            <a:ext cx="5600700" cy="323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 err="1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핵심</a:t>
            </a:r>
            <a:r>
              <a:rPr lang="en-US" sz="2100" b="1" i="0" u="none" strike="noStrike" cap="none" dirty="0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 </a:t>
            </a:r>
            <a:r>
              <a:rPr lang="en-US" sz="2100" b="1" i="0" u="none" strike="noStrike" cap="none" dirty="0" err="1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기술</a:t>
            </a:r>
            <a:r>
              <a:rPr lang="en-US" sz="2100" b="1" i="0" u="none" strike="noStrike" cap="none" dirty="0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 </a:t>
            </a:r>
            <a:r>
              <a:rPr lang="en-US" sz="2100" b="1" i="0" u="none" strike="noStrike" cap="none" dirty="0" err="1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스택</a:t>
            </a:r>
            <a:r>
              <a:rPr lang="en-US" sz="2100" b="1" i="0" u="none" strike="noStrike" cap="none" dirty="0">
                <a:solidFill>
                  <a:srgbClr val="A58213"/>
                </a:solidFill>
                <a:latin typeface="+mn-ea"/>
                <a:ea typeface="+mn-ea"/>
                <a:cs typeface="Montserrat"/>
                <a:sym typeface="Montserrat"/>
              </a:rPr>
              <a:t> (Tech Stack)</a:t>
            </a:r>
            <a:endParaRPr dirty="0">
              <a:solidFill>
                <a:srgbClr val="A58213"/>
              </a:solidFill>
              <a:latin typeface="+mn-ea"/>
              <a:ea typeface="+mn-ea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904875" y="2566335"/>
            <a:ext cx="512647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학습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역량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강화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수업에서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배운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JSP, JS,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MySQL의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실전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적용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904875" y="3053325"/>
            <a:ext cx="5000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표준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아키텍처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MVC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패턴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기반의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체계적인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설계와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구현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904875" y="3550301"/>
            <a:ext cx="5000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데이터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처리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웹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표준을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준수한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정적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/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동적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데이터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가공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904875" y="4004091"/>
            <a:ext cx="500062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사용자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경험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직관적인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UI와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효율적인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DB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연동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시스템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구축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31142" y="2442611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12777" y="3826309"/>
            <a:ext cx="29646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731142" y="3826309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1.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개요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및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기술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스택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pic>
        <p:nvPicPr>
          <p:cNvPr id="116" name="Google Shape;116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12777" y="2442611"/>
            <a:ext cx="29646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15629" y="2945115"/>
            <a:ext cx="2290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Java / JSP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8751093" y="2945115"/>
            <a:ext cx="2290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Tomcat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6115629" y="4283034"/>
            <a:ext cx="2290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Eclipse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8724757" y="4288418"/>
            <a:ext cx="229076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MySQL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FBB50D7-E93C-8289-2ACA-0029E89E44F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87771" b="73093"/>
          <a:stretch/>
        </p:blipFill>
        <p:spPr>
          <a:xfrm>
            <a:off x="7026781" y="2332615"/>
            <a:ext cx="470028" cy="60099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D17F54C1-EADD-F884-4901-68C487A4371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7730" t="74228" b="-1"/>
          <a:stretch/>
        </p:blipFill>
        <p:spPr>
          <a:xfrm>
            <a:off x="9586785" y="3639333"/>
            <a:ext cx="471600" cy="57566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8E21C6E-A81C-F6AB-22B9-CF42ACF317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87266" r="-1" b="71585"/>
          <a:stretch/>
        </p:blipFill>
        <p:spPr>
          <a:xfrm>
            <a:off x="9572024" y="2362419"/>
            <a:ext cx="489444" cy="6346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A7D24FA-73F1-385F-2F54-99470CD206E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74284" r="87730"/>
          <a:stretch/>
        </p:blipFill>
        <p:spPr>
          <a:xfrm>
            <a:off x="7025209" y="3634651"/>
            <a:ext cx="471600" cy="574401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51EAA7BC-94BB-55A4-E8BC-533C3659DAC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flipH="1">
            <a:off x="452582" y="571500"/>
            <a:ext cx="289701" cy="57150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91211D-6E12-A302-6E33-91A4CD76E10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646" y="4113969"/>
            <a:ext cx="231907" cy="21705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6BFEF85-628D-B232-88CF-852322219EF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7163" y="3165619"/>
            <a:ext cx="231907" cy="217055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48D3AAE2-46CA-1F14-0900-4138A242E8B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1746" y="2665205"/>
            <a:ext cx="231907" cy="217055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CFF5B9E4-4F29-5048-43D1-CE2F57B2AF0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0376" y="3665392"/>
            <a:ext cx="231907" cy="2170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>
          <a:extLst>
            <a:ext uri="{FF2B5EF4-FFF2-40B4-BE49-F238E27FC236}">
              <a16:creationId xmlns:a16="http://schemas.microsoft.com/office/drawing/2014/main" id="{02BD079B-FFC8-2CC1-C6A7-DE4AB118D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>
            <a:extLst>
              <a:ext uri="{FF2B5EF4-FFF2-40B4-BE49-F238E27FC236}">
                <a16:creationId xmlns:a16="http://schemas.microsoft.com/office/drawing/2014/main" id="{BF4B14E9-A971-416D-D99C-B1BE417395D4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2.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팀원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소개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142" name="Google Shape;142;p16">
            <a:extLst>
              <a:ext uri="{FF2B5EF4-FFF2-40B4-BE49-F238E27FC236}">
                <a16:creationId xmlns:a16="http://schemas.microsoft.com/office/drawing/2014/main" id="{BD6249A7-FF1E-7F39-DE00-09C514602E2A}"/>
              </a:ext>
            </a:extLst>
          </p:cNvPr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698E61A1-EB35-996A-64F5-99521CF32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452582" y="571500"/>
            <a:ext cx="289701" cy="5715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8FD44E1-401A-FC55-2F30-D625CC6E1C4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7063"/>
          <a:stretch/>
        </p:blipFill>
        <p:spPr>
          <a:xfrm>
            <a:off x="0" y="1268111"/>
            <a:ext cx="12192000" cy="5589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8703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"/>
          <p:cNvSpPr txBox="1"/>
          <p:nvPr/>
        </p:nvSpPr>
        <p:spPr>
          <a:xfrm>
            <a:off x="762000" y="453479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3.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프로젝트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개발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일정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165" name="Google Shape;165;p17"/>
          <p:cNvSpPr/>
          <p:nvPr/>
        </p:nvSpPr>
        <p:spPr>
          <a:xfrm>
            <a:off x="571500" y="453479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62384D2-1136-DC8A-AABD-4E00B26DC83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55"/>
          <a:stretch/>
        </p:blipFill>
        <p:spPr>
          <a:xfrm>
            <a:off x="1126998" y="1261871"/>
            <a:ext cx="9938004" cy="518052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380D7D3-5979-F29F-B8CF-6662736184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64749" y="453479"/>
            <a:ext cx="289701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>
          <a:extLst>
            <a:ext uri="{FF2B5EF4-FFF2-40B4-BE49-F238E27FC236}">
              <a16:creationId xmlns:a16="http://schemas.microsoft.com/office/drawing/2014/main" id="{236D0D69-3812-7556-9C6E-2DBE8FF82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04B44F4-953B-7152-F5F0-ACAEB9CC3E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90" t="1039" r="715" b="1897"/>
          <a:stretch/>
        </p:blipFill>
        <p:spPr>
          <a:xfrm>
            <a:off x="841248" y="996697"/>
            <a:ext cx="9875520" cy="5477256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76" name="Google Shape;176;p18">
            <a:extLst>
              <a:ext uri="{FF2B5EF4-FFF2-40B4-BE49-F238E27FC236}">
                <a16:creationId xmlns:a16="http://schemas.microsoft.com/office/drawing/2014/main" id="{2DBF4DAE-1133-6CD8-0283-85AF096B7329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4.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프로젝트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아키텍처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(MVC)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177" name="Google Shape;177;p18">
            <a:extLst>
              <a:ext uri="{FF2B5EF4-FFF2-40B4-BE49-F238E27FC236}">
                <a16:creationId xmlns:a16="http://schemas.microsoft.com/office/drawing/2014/main" id="{27E69DB9-AFB6-202A-1111-F62515DF1AC4}"/>
              </a:ext>
            </a:extLst>
          </p:cNvPr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C38731F-EDEE-EF80-AB91-79581484C21E}"/>
              </a:ext>
            </a:extLst>
          </p:cNvPr>
          <p:cNvSpPr/>
          <p:nvPr/>
        </p:nvSpPr>
        <p:spPr>
          <a:xfrm>
            <a:off x="762000" y="1143000"/>
            <a:ext cx="5980367" cy="5619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2A5D6EF3-21BC-035B-C8D5-AFF8E891FD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52582" y="571500"/>
            <a:ext cx="289701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631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C42CED9E-D725-46EA-300C-97D874AE54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9996" b="3417"/>
          <a:stretch/>
        </p:blipFill>
        <p:spPr>
          <a:xfrm>
            <a:off x="571500" y="1230567"/>
            <a:ext cx="11126343" cy="5422053"/>
          </a:xfrm>
          <a:prstGeom prst="rect">
            <a:avLst/>
          </a:prstGeom>
        </p:spPr>
      </p:pic>
      <p:sp>
        <p:nvSpPr>
          <p:cNvPr id="191" name="Google Shape;191;p19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5.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프로젝트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정보구조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53682A"/>
              </a:solidFill>
              <a:latin typeface="+mj-ea"/>
              <a:ea typeface="+mj-ea"/>
              <a:cs typeface="Calibri"/>
              <a:sym typeface="Calibri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D1608758-8B84-3508-0A46-0E8878D9A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52582" y="571500"/>
            <a:ext cx="289701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>
          <a:extLst>
            <a:ext uri="{FF2B5EF4-FFF2-40B4-BE49-F238E27FC236}">
              <a16:creationId xmlns:a16="http://schemas.microsoft.com/office/drawing/2014/main" id="{4DEED78F-512B-ECF7-BF2C-A80E5AEAE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>
            <a:extLst>
              <a:ext uri="{FF2B5EF4-FFF2-40B4-BE49-F238E27FC236}">
                <a16:creationId xmlns:a16="http://schemas.microsoft.com/office/drawing/2014/main" id="{BA8D10B5-02EA-9EC1-9CA0-0C4D2F180A36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6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. </a:t>
            </a:r>
            <a:r>
              <a:rPr lang="en-US" altLang="ko-KR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프로젝트</a:t>
            </a:r>
            <a:r>
              <a:rPr lang="en-US" altLang="ko-KR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ERD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192" name="Google Shape;192;p19">
            <a:extLst>
              <a:ext uri="{FF2B5EF4-FFF2-40B4-BE49-F238E27FC236}">
                <a16:creationId xmlns:a16="http://schemas.microsoft.com/office/drawing/2014/main" id="{08493CF3-94A7-A6BB-10C3-7CDF1707C572}"/>
              </a:ext>
            </a:extLst>
          </p:cNvPr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+mn-ea"/>
              <a:ea typeface="+mn-ea"/>
              <a:cs typeface="Calibri"/>
              <a:sym typeface="Calibri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65B1DA-ECA3-22B5-30B0-23859DF1AA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5271" y="520042"/>
            <a:ext cx="5804729" cy="6111047"/>
          </a:xfrm>
          <a:prstGeom prst="rect">
            <a:avLst/>
          </a:prstGeom>
        </p:spPr>
      </p:pic>
      <p:sp>
        <p:nvSpPr>
          <p:cNvPr id="5" name="Google Shape;196;p19">
            <a:extLst>
              <a:ext uri="{FF2B5EF4-FFF2-40B4-BE49-F238E27FC236}">
                <a16:creationId xmlns:a16="http://schemas.microsoft.com/office/drawing/2014/main" id="{8D5BDCE7-0611-3030-6384-404525D42300}"/>
              </a:ext>
            </a:extLst>
          </p:cNvPr>
          <p:cNvSpPr txBox="1"/>
          <p:nvPr/>
        </p:nvSpPr>
        <p:spPr>
          <a:xfrm>
            <a:off x="1143000" y="2500622"/>
            <a:ext cx="4667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1. </a:t>
            </a:r>
            <a:r>
              <a:rPr lang="ko-KR" alt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회원과 장바구니</a:t>
            </a:r>
            <a:r>
              <a:rPr lang="en-US" altLang="ko-KR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, </a:t>
            </a:r>
            <a:r>
              <a:rPr lang="ko-KR" alt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상품 간의 관계를 정립</a:t>
            </a:r>
            <a:endParaRPr dirty="0">
              <a:latin typeface="+mn-ea"/>
              <a:ea typeface="+mn-ea"/>
            </a:endParaRPr>
          </a:p>
        </p:txBody>
      </p:sp>
      <p:sp>
        <p:nvSpPr>
          <p:cNvPr id="6" name="Google Shape;197;p19">
            <a:extLst>
              <a:ext uri="{FF2B5EF4-FFF2-40B4-BE49-F238E27FC236}">
                <a16:creationId xmlns:a16="http://schemas.microsoft.com/office/drawing/2014/main" id="{DDFD1B4A-B806-879B-0FA9-558EF298D014}"/>
              </a:ext>
            </a:extLst>
          </p:cNvPr>
          <p:cNvSpPr txBox="1"/>
          <p:nvPr/>
        </p:nvSpPr>
        <p:spPr>
          <a:xfrm>
            <a:off x="1143000" y="3206234"/>
            <a:ext cx="325350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500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2. </a:t>
            </a:r>
            <a:r>
              <a:rPr lang="ko-KR" altLang="en-US" sz="1500" b="0" i="0" u="none" strike="noStrike" cap="none" dirty="0">
                <a:solidFill>
                  <a:srgbClr val="475569"/>
                </a:solidFill>
                <a:latin typeface="+mn-ea"/>
                <a:ea typeface="+mn-ea"/>
                <a:cs typeface="Noto Sans KR"/>
                <a:sym typeface="Noto Sans KR"/>
              </a:rPr>
              <a:t>게시글 댓글과 첨부파일 관계정립</a:t>
            </a:r>
            <a:endParaRPr dirty="0">
              <a:latin typeface="+mn-ea"/>
              <a:ea typeface="+mn-ea"/>
            </a:endParaRPr>
          </a:p>
        </p:txBody>
      </p:sp>
      <p:pic>
        <p:nvPicPr>
          <p:cNvPr id="8" name="Google Shape;199;p19" descr="image.png">
            <a:extLst>
              <a:ext uri="{FF2B5EF4-FFF2-40B4-BE49-F238E27FC236}">
                <a16:creationId xmlns:a16="http://schemas.microsoft.com/office/drawing/2014/main" id="{B1F15819-5519-EABA-DE49-F06D1A2D92F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2533959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200;p19" descr="image.png">
            <a:extLst>
              <a:ext uri="{FF2B5EF4-FFF2-40B4-BE49-F238E27FC236}">
                <a16:creationId xmlns:a16="http://schemas.microsoft.com/office/drawing/2014/main" id="{2BBE924C-63B2-9FF3-2605-A007C940A1C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62000" y="3239571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7518B5C-1B83-8090-A126-3CD7C4E789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452582" y="571500"/>
            <a:ext cx="289701" cy="57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063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7.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주요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기능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설명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53E13BF-6BBC-744A-7012-AE404B976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228"/>
          <a:stretch/>
        </p:blipFill>
        <p:spPr>
          <a:xfrm>
            <a:off x="844487" y="1466142"/>
            <a:ext cx="10347769" cy="4820358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1DAF23A-33CD-E4D4-1A2E-17CEB5FAD9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452582" y="571500"/>
            <a:ext cx="289701" cy="571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>
          <a:extLst>
            <a:ext uri="{FF2B5EF4-FFF2-40B4-BE49-F238E27FC236}">
              <a16:creationId xmlns:a16="http://schemas.microsoft.com/office/drawing/2014/main" id="{EF8649FC-9792-67B5-5D5F-BACE1C7C7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2">
            <a:extLst>
              <a:ext uri="{FF2B5EF4-FFF2-40B4-BE49-F238E27FC236}">
                <a16:creationId xmlns:a16="http://schemas.microsoft.com/office/drawing/2014/main" id="{39030B5A-3039-1423-66EC-2EA07CA3B29F}"/>
              </a:ext>
            </a:extLst>
          </p:cNvPr>
          <p:cNvSpPr txBox="1"/>
          <p:nvPr/>
        </p:nvSpPr>
        <p:spPr>
          <a:xfrm>
            <a:off x="762000" y="571500"/>
            <a:ext cx="11401425" cy="507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 dirty="0" err="1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시연</a:t>
            </a:r>
            <a:r>
              <a:rPr lang="en-US" sz="3300" b="1" i="0" u="none" strike="noStrike" cap="none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 </a:t>
            </a:r>
            <a:r>
              <a:rPr lang="ko-KR" altLang="en-US" sz="3300" b="1" dirty="0">
                <a:solidFill>
                  <a:srgbClr val="53682A"/>
                </a:solidFill>
                <a:latin typeface="+mj-ea"/>
                <a:ea typeface="+mj-ea"/>
                <a:cs typeface="Montserrat"/>
                <a:sym typeface="Montserrat"/>
              </a:rPr>
              <a:t>순서</a:t>
            </a:r>
            <a:endParaRPr dirty="0">
              <a:solidFill>
                <a:srgbClr val="53682A"/>
              </a:solidFill>
              <a:latin typeface="+mj-ea"/>
              <a:ea typeface="+mj-ea"/>
            </a:endParaRPr>
          </a:p>
        </p:txBody>
      </p:sp>
      <p:sp>
        <p:nvSpPr>
          <p:cNvPr id="236" name="Google Shape;236;p22">
            <a:extLst>
              <a:ext uri="{FF2B5EF4-FFF2-40B4-BE49-F238E27FC236}">
                <a16:creationId xmlns:a16="http://schemas.microsoft.com/office/drawing/2014/main" id="{9EBEBB08-2E97-F0B6-4955-14A24FAEB9E0}"/>
              </a:ext>
            </a:extLst>
          </p:cNvPr>
          <p:cNvSpPr/>
          <p:nvPr/>
        </p:nvSpPr>
        <p:spPr>
          <a:xfrm>
            <a:off x="571500" y="571500"/>
            <a:ext cx="76200" cy="561975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232;p21">
            <a:extLst>
              <a:ext uri="{FF2B5EF4-FFF2-40B4-BE49-F238E27FC236}">
                <a16:creationId xmlns:a16="http://schemas.microsoft.com/office/drawing/2014/main" id="{4CF06E89-A8D9-9AB0-FD15-5C6419E9B941}"/>
              </a:ext>
            </a:extLst>
          </p:cNvPr>
          <p:cNvSpPr txBox="1"/>
          <p:nvPr/>
        </p:nvSpPr>
        <p:spPr>
          <a:xfrm>
            <a:off x="1294634" y="2318622"/>
            <a:ext cx="46322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1.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로그인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화면</a:t>
            </a:r>
            <a:endParaRPr dirty="0"/>
          </a:p>
        </p:txBody>
      </p:sp>
      <p:sp>
        <p:nvSpPr>
          <p:cNvPr id="7" name="Google Shape;233;p21">
            <a:extLst>
              <a:ext uri="{FF2B5EF4-FFF2-40B4-BE49-F238E27FC236}">
                <a16:creationId xmlns:a16="http://schemas.microsoft.com/office/drawing/2014/main" id="{A8158DEE-0C78-FAA7-D87B-FBE58948759E}"/>
              </a:ext>
            </a:extLst>
          </p:cNvPr>
          <p:cNvSpPr txBox="1"/>
          <p:nvPr/>
        </p:nvSpPr>
        <p:spPr>
          <a:xfrm>
            <a:off x="1294634" y="2861514"/>
            <a:ext cx="46322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2. </a:t>
            </a:r>
            <a:r>
              <a:rPr lang="ko-KR" altLang="en-US" sz="1500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관리자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</a:t>
            </a:r>
            <a:r>
              <a:rPr lang="ko-KR" alt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화면</a:t>
            </a:r>
            <a:endParaRPr dirty="0"/>
          </a:p>
        </p:txBody>
      </p:sp>
      <p:sp>
        <p:nvSpPr>
          <p:cNvPr id="8" name="Google Shape;234;p21">
            <a:extLst>
              <a:ext uri="{FF2B5EF4-FFF2-40B4-BE49-F238E27FC236}">
                <a16:creationId xmlns:a16="http://schemas.microsoft.com/office/drawing/2014/main" id="{7B82F8D1-1B4E-7EEC-2C39-5B807F858C77}"/>
              </a:ext>
            </a:extLst>
          </p:cNvPr>
          <p:cNvSpPr txBox="1"/>
          <p:nvPr/>
        </p:nvSpPr>
        <p:spPr>
          <a:xfrm>
            <a:off x="1294634" y="3366339"/>
            <a:ext cx="46322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3. </a:t>
            </a:r>
            <a:r>
              <a:rPr lang="ko-KR" alt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장보기 화면</a:t>
            </a:r>
            <a:endParaRPr dirty="0"/>
          </a:p>
        </p:txBody>
      </p:sp>
      <p:sp>
        <p:nvSpPr>
          <p:cNvPr id="9" name="Google Shape;235;p21">
            <a:extLst>
              <a:ext uri="{FF2B5EF4-FFF2-40B4-BE49-F238E27FC236}">
                <a16:creationId xmlns:a16="http://schemas.microsoft.com/office/drawing/2014/main" id="{F92BE13A-90D3-9279-5BE6-F17486D7FB1E}"/>
              </a:ext>
            </a:extLst>
          </p:cNvPr>
          <p:cNvSpPr txBox="1"/>
          <p:nvPr/>
        </p:nvSpPr>
        <p:spPr>
          <a:xfrm>
            <a:off x="1294634" y="3871164"/>
            <a:ext cx="463227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4. </a:t>
            </a:r>
            <a:r>
              <a:rPr lang="ko-KR" altLang="en-US" sz="1500" b="0" i="0" u="none" strike="noStrike" cap="none" dirty="0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게시판 화면</a:t>
            </a:r>
            <a:endParaRPr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850C62C5-E687-4211-44D2-F69E817FB7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9877" y="670570"/>
            <a:ext cx="3819248" cy="34855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14BF16A-F8A1-99F0-EA46-6DBF36EA09E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6468" y="1899918"/>
            <a:ext cx="4259720" cy="29327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F441C8D0-3DEC-BE43-D31F-BD7C4A797E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075" y="2974380"/>
            <a:ext cx="4372704" cy="34731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C083B32D-F6ED-0598-AD2F-C12981AF59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452582" y="571500"/>
            <a:ext cx="289701" cy="57150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4D279F5C-7B9C-8F32-F06E-66EFD2C227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779" y="2281551"/>
            <a:ext cx="377582" cy="35340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4E5D5F6C-91F0-00DE-11FA-C3840EB98DB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44" y="2797680"/>
            <a:ext cx="377582" cy="3534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A29428E-C695-8AA9-CFA6-F6BAFDCAC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44" y="3286921"/>
            <a:ext cx="377582" cy="35340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24E8E714-4952-1D44-A6B3-E36C60F1471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0144" y="3826089"/>
            <a:ext cx="377582" cy="353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0884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C2AC9CA-553B-85B4-6FFF-484450393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56" y="0"/>
            <a:ext cx="12185522" cy="6858000"/>
          </a:xfrm>
          <a:prstGeom prst="rect">
            <a:avLst/>
          </a:prstGeom>
        </p:spPr>
      </p:pic>
      <p:sp>
        <p:nvSpPr>
          <p:cNvPr id="242" name="Google Shape;242;p23"/>
          <p:cNvSpPr txBox="1"/>
          <p:nvPr/>
        </p:nvSpPr>
        <p:spPr>
          <a:xfrm>
            <a:off x="110547" y="2064182"/>
            <a:ext cx="11601450" cy="1969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8000" b="1" i="0" u="none" strike="noStrike" cap="none" dirty="0">
                <a:solidFill>
                  <a:srgbClr val="53682A"/>
                </a:solidFill>
                <a:latin typeface="+mn-ea"/>
                <a:ea typeface="+mn-ea"/>
                <a:cs typeface="Noto Sans KR"/>
                <a:sym typeface="Noto Sans KR"/>
              </a:rPr>
              <a:t>Q &amp; A</a:t>
            </a:r>
            <a:endParaRPr lang="en-US" altLang="ko-KR" sz="8000" b="1" dirty="0">
              <a:solidFill>
                <a:srgbClr val="53682A"/>
              </a:solidFill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152</Words>
  <Application>Microsoft Office PowerPoint</Application>
  <PresentationFormat>와이드스크린</PresentationFormat>
  <Paragraphs>28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Noto Sans KR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GGG</dc:creator>
  <cp:lastModifiedBy>민재 허</cp:lastModifiedBy>
  <cp:revision>30</cp:revision>
  <dcterms:modified xsi:type="dcterms:W3CDTF">2026-06-12T02:28:28Z</dcterms:modified>
</cp:coreProperties>
</file>